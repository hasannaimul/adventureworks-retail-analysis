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c6edfcf2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c6edfcf2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6edfcf28e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c6edfcf28e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6edfcf28e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c6edfcf28e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c6edfcf28e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c6edfcf28e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c6edfcf28e_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c6edfcf28e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6edfcf28e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c6edfcf28e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c6edfcf28e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c6edfcf28e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6edfcf28e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c6edfcf28e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6edfcf28e_7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c6edfcf28e_7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c6edfcf28e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c6edfcf28e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c6edfcf28e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c6edfcf28e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6edfcf28e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c6edfcf28e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6edfcf28e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c6edfcf28e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" name="Google Shape;76;p1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8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8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4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6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27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7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28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28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7" name="Google Shape;177;p28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9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3" name="Google Shape;193;p3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30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30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0" name="Google Shape;200;p31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1" name="Google Shape;201;p31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1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3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33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3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3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3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3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3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3" name="Google Shape;243;p34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4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4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7" name="Google Shape;247;p34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8" name="Google Shape;248;p34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1" name="Google Shape;251;p34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34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4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5" name="Google Shape;255;p34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3" name="Google Shape;263;p35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4" name="Google Shape;264;p35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5" name="Google Shape;265;p35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p35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7" name="Google Shape;267;p35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8" name="Google Shape;268;p35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9" name="Google Shape;269;p35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0" name="Google Shape;270;p35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1" name="Google Shape;271;p35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35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5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5" name="Google Shape;275;p35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5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5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5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5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5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5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6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6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36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6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6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6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36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3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98" name="Google Shape;298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7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" name="Google Shape;30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3" name="Google Shape;35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3" name="Google Shape;36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8" name="Google Shape;38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Relationship Id="rId4" Type="http://schemas.openxmlformats.org/officeDocument/2006/relationships/image" Target="../media/image13.jpg"/><Relationship Id="rId5" Type="http://schemas.openxmlformats.org/officeDocument/2006/relationships/image" Target="../media/image3.jpg"/><Relationship Id="rId6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gif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9"/>
          <p:cNvSpPr txBox="1"/>
          <p:nvPr>
            <p:ph type="ctrTitle"/>
          </p:nvPr>
        </p:nvSpPr>
        <p:spPr>
          <a:xfrm>
            <a:off x="155850" y="325475"/>
            <a:ext cx="8832300" cy="23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Adventure Works 2019</a:t>
            </a:r>
            <a:endParaRPr b="1"/>
          </a:p>
        </p:txBody>
      </p:sp>
      <p:sp>
        <p:nvSpPr>
          <p:cNvPr id="407" name="Google Shape;407;p59"/>
          <p:cNvSpPr txBox="1"/>
          <p:nvPr>
            <p:ph idx="1" type="subTitle"/>
          </p:nvPr>
        </p:nvSpPr>
        <p:spPr>
          <a:xfrm>
            <a:off x="311700" y="2834125"/>
            <a:ext cx="85206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Interim Project Presentation</a:t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Group 2</a:t>
            </a:r>
            <a:endParaRPr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0"/>
          <p:cNvSpPr/>
          <p:nvPr/>
        </p:nvSpPr>
        <p:spPr>
          <a:xfrm>
            <a:off x="2456700" y="286800"/>
            <a:ext cx="1515000" cy="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3" name="Google Shape;413;p60"/>
          <p:cNvSpPr/>
          <p:nvPr/>
        </p:nvSpPr>
        <p:spPr>
          <a:xfrm>
            <a:off x="4084967" y="286800"/>
            <a:ext cx="1515000" cy="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60"/>
          <p:cNvSpPr/>
          <p:nvPr/>
        </p:nvSpPr>
        <p:spPr>
          <a:xfrm>
            <a:off x="5713233" y="286800"/>
            <a:ext cx="1515000" cy="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60"/>
          <p:cNvSpPr/>
          <p:nvPr/>
        </p:nvSpPr>
        <p:spPr>
          <a:xfrm>
            <a:off x="7341500" y="286800"/>
            <a:ext cx="1515000" cy="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60"/>
          <p:cNvSpPr/>
          <p:nvPr/>
        </p:nvSpPr>
        <p:spPr>
          <a:xfrm>
            <a:off x="2457150" y="1989875"/>
            <a:ext cx="1515000" cy="131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60"/>
          <p:cNvSpPr/>
          <p:nvPr/>
        </p:nvSpPr>
        <p:spPr>
          <a:xfrm>
            <a:off x="4084725" y="1989775"/>
            <a:ext cx="1515000" cy="131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Google Shape;418;p60"/>
          <p:cNvSpPr/>
          <p:nvPr/>
        </p:nvSpPr>
        <p:spPr>
          <a:xfrm>
            <a:off x="5713675" y="1989875"/>
            <a:ext cx="1515000" cy="131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7341950" y="1989875"/>
            <a:ext cx="1515000" cy="131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0" name="Google Shape;420;p60"/>
          <p:cNvCxnSpPr/>
          <p:nvPr/>
        </p:nvCxnSpPr>
        <p:spPr>
          <a:xfrm>
            <a:off x="2635350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60"/>
          <p:cNvCxnSpPr/>
          <p:nvPr/>
        </p:nvCxnSpPr>
        <p:spPr>
          <a:xfrm>
            <a:off x="4263388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60"/>
          <p:cNvCxnSpPr/>
          <p:nvPr/>
        </p:nvCxnSpPr>
        <p:spPr>
          <a:xfrm>
            <a:off x="5891875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60"/>
          <p:cNvCxnSpPr/>
          <p:nvPr/>
        </p:nvCxnSpPr>
        <p:spPr>
          <a:xfrm>
            <a:off x="7520150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60"/>
          <p:cNvSpPr txBox="1"/>
          <p:nvPr>
            <p:ph idx="20" type="title"/>
          </p:nvPr>
        </p:nvSpPr>
        <p:spPr>
          <a:xfrm>
            <a:off x="7450250" y="3905450"/>
            <a:ext cx="1328400" cy="778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London, 12/02/2026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25" name="Google Shape;425;p60"/>
          <p:cNvSpPr txBox="1"/>
          <p:nvPr>
            <p:ph idx="21" type="title"/>
          </p:nvPr>
        </p:nvSpPr>
        <p:spPr>
          <a:xfrm>
            <a:off x="281900" y="1001700"/>
            <a:ext cx="1884000" cy="31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1" lang="en" sz="4800"/>
              <a:t>Meet </a:t>
            </a:r>
            <a:endParaRPr b="1" i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i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1" lang="en" sz="4800"/>
              <a:t>the</a:t>
            </a:r>
            <a:endParaRPr b="1" i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i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1" lang="en" sz="4800"/>
              <a:t>Team</a:t>
            </a:r>
            <a:endParaRPr b="1" i="1" sz="4800"/>
          </a:p>
        </p:txBody>
      </p:sp>
      <p:pic>
        <p:nvPicPr>
          <p:cNvPr id="426" name="Google Shape;426;p60" title="IMG_3135a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783" r="10791" t="0"/>
          <a:stretch/>
        </p:blipFill>
        <p:spPr>
          <a:xfrm>
            <a:off x="2456250" y="285900"/>
            <a:ext cx="1514998" cy="1616701"/>
          </a:xfrm>
          <a:prstGeom prst="rect">
            <a:avLst/>
          </a:prstGeom>
        </p:spPr>
      </p:pic>
      <p:sp>
        <p:nvSpPr>
          <p:cNvPr id="427" name="Google Shape;427;p60"/>
          <p:cNvSpPr txBox="1"/>
          <p:nvPr>
            <p:ph type="title"/>
          </p:nvPr>
        </p:nvSpPr>
        <p:spPr>
          <a:xfrm>
            <a:off x="2617925" y="2172975"/>
            <a:ext cx="1188600" cy="5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Lucia Martinez</a:t>
            </a:r>
            <a:endParaRPr sz="1400"/>
          </a:p>
        </p:txBody>
      </p:sp>
      <p:pic>
        <p:nvPicPr>
          <p:cNvPr id="428" name="Google Shape;428;p60" title="Image (1).jpg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24631" l="0" r="0" t="0"/>
          <a:stretch/>
        </p:blipFill>
        <p:spPr>
          <a:xfrm>
            <a:off x="4084738" y="278075"/>
            <a:ext cx="1514999" cy="1616710"/>
          </a:xfrm>
          <a:prstGeom prst="rect">
            <a:avLst/>
          </a:prstGeom>
        </p:spPr>
      </p:pic>
      <p:sp>
        <p:nvSpPr>
          <p:cNvPr id="429" name="Google Shape;429;p60"/>
          <p:cNvSpPr txBox="1"/>
          <p:nvPr>
            <p:ph idx="5" type="title"/>
          </p:nvPr>
        </p:nvSpPr>
        <p:spPr>
          <a:xfrm>
            <a:off x="4263400" y="2172975"/>
            <a:ext cx="1188600" cy="5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Hasan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Naimul</a:t>
            </a:r>
            <a:endParaRPr sz="1400"/>
          </a:p>
        </p:txBody>
      </p:sp>
      <p:pic>
        <p:nvPicPr>
          <p:cNvPr id="430" name="Google Shape;430;p60" title="Generated image.jpg"/>
          <p:cNvPicPr preferRelativeResize="0"/>
          <p:nvPr>
            <p:ph idx="8" type="pic"/>
          </p:nvPr>
        </p:nvPicPr>
        <p:blipFill rotWithShape="1">
          <a:blip r:embed="rId5">
            <a:alphaModFix/>
          </a:blip>
          <a:srcRect b="25844" l="0" r="0" t="3057"/>
          <a:stretch/>
        </p:blipFill>
        <p:spPr>
          <a:xfrm>
            <a:off x="5713225" y="278075"/>
            <a:ext cx="1515001" cy="1616700"/>
          </a:xfrm>
          <a:prstGeom prst="rect">
            <a:avLst/>
          </a:prstGeom>
        </p:spPr>
      </p:pic>
      <p:sp>
        <p:nvSpPr>
          <p:cNvPr id="431" name="Google Shape;431;p60"/>
          <p:cNvSpPr txBox="1"/>
          <p:nvPr>
            <p:ph idx="14" type="title"/>
          </p:nvPr>
        </p:nvSpPr>
        <p:spPr>
          <a:xfrm>
            <a:off x="5876775" y="2212750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Chiedozie Ezeogu</a:t>
            </a:r>
            <a:endParaRPr sz="1400"/>
          </a:p>
        </p:txBody>
      </p:sp>
      <p:pic>
        <p:nvPicPr>
          <p:cNvPr id="432" name="Google Shape;432;p60" title="pictureP.jpg"/>
          <p:cNvPicPr preferRelativeResize="0"/>
          <p:nvPr>
            <p:ph idx="15" type="pic"/>
          </p:nvPr>
        </p:nvPicPr>
        <p:blipFill rotWithShape="1">
          <a:blip r:embed="rId6">
            <a:alphaModFix/>
          </a:blip>
          <a:srcRect b="30572" l="-30" r="30" t="277"/>
          <a:stretch/>
        </p:blipFill>
        <p:spPr>
          <a:xfrm>
            <a:off x="7341475" y="278075"/>
            <a:ext cx="1515001" cy="1616700"/>
          </a:xfrm>
          <a:prstGeom prst="rect">
            <a:avLst/>
          </a:prstGeom>
        </p:spPr>
      </p:pic>
      <p:sp>
        <p:nvSpPr>
          <p:cNvPr id="433" name="Google Shape;433;p60"/>
          <p:cNvSpPr txBox="1"/>
          <p:nvPr>
            <p:ph idx="16" type="title"/>
          </p:nvPr>
        </p:nvSpPr>
        <p:spPr>
          <a:xfrm>
            <a:off x="7538025" y="2172975"/>
            <a:ext cx="11886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Piotr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Zaprawa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1"/>
          <p:cNvSpPr txBox="1"/>
          <p:nvPr>
            <p:ph type="ctrTitle"/>
          </p:nvPr>
        </p:nvSpPr>
        <p:spPr>
          <a:xfrm>
            <a:off x="690600" y="430100"/>
            <a:ext cx="7762800" cy="92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Introduction &amp; Tools:</a:t>
            </a:r>
            <a:endParaRPr b="1" i="1"/>
          </a:p>
        </p:txBody>
      </p:sp>
      <p:sp>
        <p:nvSpPr>
          <p:cNvPr id="439" name="Google Shape;439;p61"/>
          <p:cNvSpPr txBox="1"/>
          <p:nvPr>
            <p:ph idx="1" type="subTitle"/>
          </p:nvPr>
        </p:nvSpPr>
        <p:spPr>
          <a:xfrm>
            <a:off x="398875" y="1656550"/>
            <a:ext cx="4698000" cy="29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Snowflake Database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71 tables, 20 views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SQL (SSMS)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Python → Pandas, Numpy, Matplotlib (Pyplot package)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descr="a cartoon character is holding a wrench over his head (Provided by Tenor)" id="440" name="Google Shape;44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125" y="1959550"/>
            <a:ext cx="2548375" cy="25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/>
          <p:nvPr>
            <p:ph type="ctrTitle"/>
          </p:nvPr>
        </p:nvSpPr>
        <p:spPr>
          <a:xfrm>
            <a:off x="451175" y="185975"/>
            <a:ext cx="8520600" cy="65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/>
              <a:t>Revenue categorised by Country</a:t>
            </a:r>
            <a:endParaRPr b="1" i="1" sz="2400"/>
          </a:p>
        </p:txBody>
      </p:sp>
      <p:sp>
        <p:nvSpPr>
          <p:cNvPr id="446" name="Google Shape;446;p62"/>
          <p:cNvSpPr txBox="1"/>
          <p:nvPr>
            <p:ph idx="1" type="subTitle"/>
          </p:nvPr>
        </p:nvSpPr>
        <p:spPr>
          <a:xfrm>
            <a:off x="0" y="1210700"/>
            <a:ext cx="2727900" cy="3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419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50">
                <a:solidFill>
                  <a:schemeClr val="dk1"/>
                </a:solidFill>
              </a:rPr>
              <a:t>Our database compares 6 countries</a:t>
            </a:r>
            <a:endParaRPr sz="2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</a:endParaRPr>
          </a:p>
          <a:p>
            <a:pPr indent="-341948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lang="en" sz="2550">
                <a:solidFill>
                  <a:srgbClr val="FF0000"/>
                </a:solidFill>
              </a:rPr>
              <a:t>Best performing country: US</a:t>
            </a:r>
            <a:endParaRPr sz="2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</a:endParaRPr>
          </a:p>
          <a:p>
            <a:pPr indent="-3419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550">
                <a:solidFill>
                  <a:schemeClr val="dk1"/>
                </a:solidFill>
              </a:rPr>
              <a:t>Lowest revenue: Germany</a:t>
            </a:r>
            <a:endParaRPr sz="2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447" name="Google Shape;447;p62"/>
          <p:cNvPicPr preferRelativeResize="0"/>
          <p:nvPr/>
        </p:nvPicPr>
        <p:blipFill rotWithShape="1">
          <a:blip r:embed="rId3">
            <a:alphaModFix/>
          </a:blip>
          <a:srcRect b="0" l="0" r="3288" t="1826"/>
          <a:stretch/>
        </p:blipFill>
        <p:spPr>
          <a:xfrm>
            <a:off x="2566650" y="1068550"/>
            <a:ext cx="6265650" cy="36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3"/>
          <p:cNvSpPr txBox="1"/>
          <p:nvPr>
            <p:ph type="ctrTitle"/>
          </p:nvPr>
        </p:nvSpPr>
        <p:spPr>
          <a:xfrm>
            <a:off x="-226675" y="240200"/>
            <a:ext cx="8520600" cy="10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400"/>
              <a:t>Regional sales in the US (%)</a:t>
            </a:r>
            <a:endParaRPr b="1" i="1"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53" name="Google Shape;453;p63"/>
          <p:cNvSpPr txBox="1"/>
          <p:nvPr>
            <p:ph idx="1" type="subTitle"/>
          </p:nvPr>
        </p:nvSpPr>
        <p:spPr>
          <a:xfrm>
            <a:off x="-139475" y="1338050"/>
            <a:ext cx="2691000" cy="36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Best performing region: Southwest →</a:t>
            </a:r>
            <a:r>
              <a:rPr lang="en" sz="1800">
                <a:solidFill>
                  <a:srgbClr val="FF0000"/>
                </a:solidFill>
              </a:rPr>
              <a:t> almost 40%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Lowest regional sales: Northeast → 9%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54" name="Google Shape;454;p63"/>
          <p:cNvPicPr preferRelativeResize="0"/>
          <p:nvPr/>
        </p:nvPicPr>
        <p:blipFill rotWithShape="1">
          <a:blip r:embed="rId3">
            <a:alphaModFix/>
          </a:blip>
          <a:srcRect b="0" l="0" r="6147" t="0"/>
          <a:stretch/>
        </p:blipFill>
        <p:spPr>
          <a:xfrm>
            <a:off x="2812950" y="902150"/>
            <a:ext cx="6019350" cy="380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4"/>
          <p:cNvSpPr txBox="1"/>
          <p:nvPr/>
        </p:nvSpPr>
        <p:spPr>
          <a:xfrm>
            <a:off x="205825" y="171700"/>
            <a:ext cx="8320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2400">
                <a:solidFill>
                  <a:schemeClr val="dk1"/>
                </a:solidFill>
              </a:rPr>
              <a:t>Sick leave accrued categorised by Job Title</a:t>
            </a:r>
            <a:endParaRPr b="1" i="1" sz="2400">
              <a:solidFill>
                <a:schemeClr val="dk1"/>
              </a:solidFill>
            </a:endParaRPr>
          </a:p>
        </p:txBody>
      </p:sp>
      <p:sp>
        <p:nvSpPr>
          <p:cNvPr id="460" name="Google Shape;460;p64"/>
          <p:cNvSpPr txBox="1"/>
          <p:nvPr/>
        </p:nvSpPr>
        <p:spPr>
          <a:xfrm>
            <a:off x="275575" y="975575"/>
            <a:ext cx="2380500" cy="3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Top 5 vs lowest 5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→ Accrued sick leave does </a:t>
            </a:r>
            <a:r>
              <a:rPr lang="en" sz="1800">
                <a:solidFill>
                  <a:srgbClr val="FF0000"/>
                </a:solidFill>
              </a:rPr>
              <a:t>not</a:t>
            </a:r>
            <a:r>
              <a:rPr lang="en" sz="1800"/>
              <a:t> depend on seniority</a:t>
            </a:r>
            <a:endParaRPr sz="1800"/>
          </a:p>
        </p:txBody>
      </p:sp>
      <p:pic>
        <p:nvPicPr>
          <p:cNvPr id="461" name="Google Shape;461;p64"/>
          <p:cNvPicPr preferRelativeResize="0"/>
          <p:nvPr/>
        </p:nvPicPr>
        <p:blipFill rotWithShape="1">
          <a:blip r:embed="rId3">
            <a:alphaModFix/>
          </a:blip>
          <a:srcRect b="43990" l="0" r="0" t="0"/>
          <a:stretch/>
        </p:blipFill>
        <p:spPr>
          <a:xfrm>
            <a:off x="2987300" y="975575"/>
            <a:ext cx="5693700" cy="17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64" title="question4_p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7300" y="3030850"/>
            <a:ext cx="5780900" cy="1353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5"/>
          <p:cNvSpPr txBox="1"/>
          <p:nvPr/>
        </p:nvSpPr>
        <p:spPr>
          <a:xfrm>
            <a:off x="-104625" y="328625"/>
            <a:ext cx="874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2400">
                <a:solidFill>
                  <a:schemeClr val="dk1"/>
                </a:solidFill>
              </a:rPr>
              <a:t>Average Sick leave accrued categorised by department</a:t>
            </a:r>
            <a:endParaRPr b="1" i="1" sz="2400">
              <a:solidFill>
                <a:schemeClr val="dk1"/>
              </a:solidFill>
            </a:endParaRPr>
          </a:p>
        </p:txBody>
      </p:sp>
      <p:pic>
        <p:nvPicPr>
          <p:cNvPr id="468" name="Google Shape;468;p65"/>
          <p:cNvPicPr preferRelativeResize="0"/>
          <p:nvPr/>
        </p:nvPicPr>
        <p:blipFill rotWithShape="1">
          <a:blip r:embed="rId3">
            <a:alphaModFix/>
          </a:blip>
          <a:srcRect b="0" l="0" r="4022" t="5571"/>
          <a:stretch/>
        </p:blipFill>
        <p:spPr>
          <a:xfrm>
            <a:off x="2122975" y="1179800"/>
            <a:ext cx="6896624" cy="36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5"/>
          <p:cNvSpPr txBox="1"/>
          <p:nvPr/>
        </p:nvSpPr>
        <p:spPr>
          <a:xfrm>
            <a:off x="0" y="1412487"/>
            <a:ext cx="2275800" cy="3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Engineering is lowest → </a:t>
            </a:r>
            <a:r>
              <a:rPr lang="en" sz="1800">
                <a:solidFill>
                  <a:srgbClr val="FF0000"/>
                </a:solidFill>
              </a:rPr>
              <a:t>21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Shipping and receiving is highest → </a:t>
            </a:r>
            <a:r>
              <a:rPr lang="en" sz="1800">
                <a:solidFill>
                  <a:srgbClr val="FF0000"/>
                </a:solidFill>
              </a:rPr>
              <a:t>67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6"/>
          <p:cNvSpPr txBox="1"/>
          <p:nvPr>
            <p:ph type="ctrTitle"/>
          </p:nvPr>
        </p:nvSpPr>
        <p:spPr>
          <a:xfrm>
            <a:off x="311700" y="168525"/>
            <a:ext cx="8520600" cy="6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/>
              <a:t>Annual leave vs bonus</a:t>
            </a:r>
            <a:endParaRPr b="1" i="1" sz="2400"/>
          </a:p>
        </p:txBody>
      </p:sp>
      <p:sp>
        <p:nvSpPr>
          <p:cNvPr id="475" name="Google Shape;475;p66"/>
          <p:cNvSpPr txBox="1"/>
          <p:nvPr>
            <p:ph idx="1" type="subTitle"/>
          </p:nvPr>
        </p:nvSpPr>
        <p:spPr>
          <a:xfrm>
            <a:off x="311700" y="1281975"/>
            <a:ext cx="3181200" cy="3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Weak correlation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Vacation entitlement independent of bonus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Vacation hours reflect entitlement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76" name="Google Shape;47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4725" y="917925"/>
            <a:ext cx="5025525" cy="37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7"/>
          <p:cNvSpPr txBox="1"/>
          <p:nvPr>
            <p:ph type="ctrTitle"/>
          </p:nvPr>
        </p:nvSpPr>
        <p:spPr>
          <a:xfrm>
            <a:off x="490050" y="273150"/>
            <a:ext cx="8163900" cy="5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/>
              <a:t>Store trading duration vs yearly customer income (revenue)</a:t>
            </a:r>
            <a:endParaRPr b="1" i="1" sz="2200"/>
          </a:p>
        </p:txBody>
      </p:sp>
      <p:sp>
        <p:nvSpPr>
          <p:cNvPr id="482" name="Google Shape;482;p67"/>
          <p:cNvSpPr txBox="1"/>
          <p:nvPr>
            <p:ph idx="1" type="subTitle"/>
          </p:nvPr>
        </p:nvSpPr>
        <p:spPr>
          <a:xfrm>
            <a:off x="0" y="988000"/>
            <a:ext cx="3039600" cy="3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7200">
                <a:solidFill>
                  <a:schemeClr val="dk1"/>
                </a:solidFill>
              </a:rPr>
              <a:t>Duration does not mean higher income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7200">
                <a:solidFill>
                  <a:schemeClr val="dk1"/>
                </a:solidFill>
              </a:rPr>
              <a:t>Between 30k and 100k income → </a:t>
            </a:r>
            <a:r>
              <a:rPr lang="en" sz="7200">
                <a:solidFill>
                  <a:srgbClr val="FF0000"/>
                </a:solidFill>
              </a:rPr>
              <a:t>decrease in duration</a:t>
            </a:r>
            <a:endParaRPr sz="7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7200">
                <a:solidFill>
                  <a:schemeClr val="dk1"/>
                </a:solidFill>
              </a:rPr>
              <a:t>Do older shops make more money?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83" name="Google Shape;483;p67"/>
          <p:cNvPicPr preferRelativeResize="0"/>
          <p:nvPr/>
        </p:nvPicPr>
        <p:blipFill rotWithShape="1">
          <a:blip r:embed="rId3">
            <a:alphaModFix/>
          </a:blip>
          <a:srcRect b="0" l="1431" r="4425" t="0"/>
          <a:stretch/>
        </p:blipFill>
        <p:spPr>
          <a:xfrm>
            <a:off x="3126750" y="1373200"/>
            <a:ext cx="5895150" cy="32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8"/>
          <p:cNvSpPr txBox="1"/>
          <p:nvPr>
            <p:ph type="ctrTitle"/>
          </p:nvPr>
        </p:nvSpPr>
        <p:spPr>
          <a:xfrm>
            <a:off x="-515100" y="290575"/>
            <a:ext cx="9659100" cy="5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2400"/>
              <a:t>Store size vs number of employees vs customer income (revenue) </a:t>
            </a:r>
            <a:endParaRPr/>
          </a:p>
        </p:txBody>
      </p:sp>
      <p:sp>
        <p:nvSpPr>
          <p:cNvPr id="489" name="Google Shape;489;p68"/>
          <p:cNvSpPr txBox="1"/>
          <p:nvPr>
            <p:ph idx="1" type="subTitle"/>
          </p:nvPr>
        </p:nvSpPr>
        <p:spPr>
          <a:xfrm>
            <a:off x="122050" y="1383475"/>
            <a:ext cx="3583800" cy="33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Store size vs income → </a:t>
            </a:r>
            <a:r>
              <a:rPr lang="en" sz="1700">
                <a:solidFill>
                  <a:srgbClr val="FF0000"/>
                </a:solidFill>
              </a:rPr>
              <a:t>positive correlation</a:t>
            </a:r>
            <a:endParaRPr sz="1700">
              <a:solidFill>
                <a:srgbClr val="FF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Number of staff vs income → </a:t>
            </a:r>
            <a:r>
              <a:rPr lang="en" sz="1700">
                <a:solidFill>
                  <a:srgbClr val="FF0000"/>
                </a:solidFill>
              </a:rPr>
              <a:t>positive correlation</a:t>
            </a:r>
            <a:endParaRPr sz="1700">
              <a:solidFill>
                <a:srgbClr val="FF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Stores with similar setups outperform each other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490" name="Google Shape;49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0900" y="1383500"/>
            <a:ext cx="5144350" cy="33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9"/>
          <p:cNvSpPr txBox="1"/>
          <p:nvPr>
            <p:ph type="ctrTitle"/>
          </p:nvPr>
        </p:nvSpPr>
        <p:spPr>
          <a:xfrm>
            <a:off x="189650" y="273175"/>
            <a:ext cx="8520600" cy="59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100"/>
              <a:t>N</a:t>
            </a:r>
            <a:r>
              <a:rPr b="1" i="1" lang="en" sz="2100"/>
              <a:t>umber of employees vs customer income (revenue)</a:t>
            </a:r>
            <a:endParaRPr sz="2100"/>
          </a:p>
        </p:txBody>
      </p:sp>
      <p:sp>
        <p:nvSpPr>
          <p:cNvPr id="496" name="Google Shape;496;p69"/>
          <p:cNvSpPr txBox="1"/>
          <p:nvPr>
            <p:ph idx="1" type="subTitle"/>
          </p:nvPr>
        </p:nvSpPr>
        <p:spPr>
          <a:xfrm>
            <a:off x="189650" y="1405250"/>
            <a:ext cx="3303300" cy="36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-34210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500">
                <a:solidFill>
                  <a:srgbClr val="FF0000"/>
                </a:solidFill>
              </a:rPr>
              <a:t>High achievers</a:t>
            </a:r>
            <a:r>
              <a:rPr b="1" lang="en" sz="5500">
                <a:solidFill>
                  <a:schemeClr val="dk1"/>
                </a:solidFill>
              </a:rPr>
              <a:t> → </a:t>
            </a:r>
            <a:r>
              <a:rPr lang="en" sz="5500">
                <a:solidFill>
                  <a:schemeClr val="dk1"/>
                </a:solidFill>
              </a:rPr>
              <a:t>prime store locations, efficient management, experienced staff.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dk1"/>
              </a:solidFill>
            </a:endParaRPr>
          </a:p>
          <a:p>
            <a:pPr indent="-34210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500">
                <a:solidFill>
                  <a:schemeClr val="dk1"/>
                </a:solidFill>
              </a:rPr>
              <a:t>Low achievers:</a:t>
            </a:r>
            <a:r>
              <a:rPr lang="en" sz="5500">
                <a:solidFill>
                  <a:schemeClr val="dk1"/>
                </a:solidFill>
              </a:rPr>
              <a:t> little staff training, not optimal locations.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7" name="Google Shape;49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570" y="1167537"/>
            <a:ext cx="5002980" cy="3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0"/>
          <p:cNvSpPr txBox="1"/>
          <p:nvPr>
            <p:ph type="ctrTitle"/>
          </p:nvPr>
        </p:nvSpPr>
        <p:spPr>
          <a:xfrm>
            <a:off x="189650" y="137300"/>
            <a:ext cx="32859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/>
              <a:t>Conclusions:</a:t>
            </a:r>
            <a:endParaRPr b="1" i="1" sz="3000"/>
          </a:p>
        </p:txBody>
      </p:sp>
      <p:sp>
        <p:nvSpPr>
          <p:cNvPr id="503" name="Google Shape;503;p70"/>
          <p:cNvSpPr txBox="1"/>
          <p:nvPr>
            <p:ph idx="1" type="subTitle"/>
          </p:nvPr>
        </p:nvSpPr>
        <p:spPr>
          <a:xfrm>
            <a:off x="294300" y="1086825"/>
            <a:ext cx="7819200" cy="3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rgbClr val="FF0000"/>
                </a:solidFill>
              </a:rPr>
              <a:t>US Southwest: </a:t>
            </a:r>
            <a:r>
              <a:rPr lang="en" sz="2200">
                <a:solidFill>
                  <a:schemeClr val="dk1"/>
                </a:solidFill>
              </a:rPr>
              <a:t>highest revenue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Seniority-sick leave → </a:t>
            </a:r>
            <a:r>
              <a:rPr lang="en" sz="2200">
                <a:solidFill>
                  <a:srgbClr val="FF0000"/>
                </a:solidFill>
              </a:rPr>
              <a:t>no correlation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Vacation-bonus → </a:t>
            </a:r>
            <a:r>
              <a:rPr lang="en" sz="2200">
                <a:solidFill>
                  <a:srgbClr val="FF0000"/>
                </a:solidFill>
              </a:rPr>
              <a:t>no correlation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Duration-income (revenue) → </a:t>
            </a:r>
            <a:r>
              <a:rPr lang="en" sz="2200">
                <a:solidFill>
                  <a:srgbClr val="FF0000"/>
                </a:solidFill>
              </a:rPr>
              <a:t>weak correlation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Income (revenue) vs store size vs number of employees → </a:t>
            </a:r>
            <a:r>
              <a:rPr lang="en" sz="2200">
                <a:solidFill>
                  <a:srgbClr val="FF0000"/>
                </a:solidFill>
              </a:rPr>
              <a:t>strong correlation</a:t>
            </a:r>
            <a:endParaRPr sz="2200">
              <a:solidFill>
                <a:srgbClr val="FF0000"/>
              </a:solidFill>
            </a:endParaRPr>
          </a:p>
        </p:txBody>
      </p:sp>
      <p:pic>
        <p:nvPicPr>
          <p:cNvPr descr="a blue and white book with a red ribbon (Provided by Tenor)" id="504" name="Google Shape;50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2825" y="495500"/>
            <a:ext cx="2754825" cy="24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1"/>
          <p:cNvSpPr txBox="1"/>
          <p:nvPr>
            <p:ph type="ctrTitle"/>
          </p:nvPr>
        </p:nvSpPr>
        <p:spPr>
          <a:xfrm>
            <a:off x="441700" y="482375"/>
            <a:ext cx="6451200" cy="65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600"/>
              <a:t>Future Questions for Analysis:</a:t>
            </a:r>
            <a:endParaRPr b="1" i="1" sz="3600"/>
          </a:p>
        </p:txBody>
      </p:sp>
      <p:sp>
        <p:nvSpPr>
          <p:cNvPr id="510" name="Google Shape;510;p71"/>
          <p:cNvSpPr txBox="1"/>
          <p:nvPr>
            <p:ph idx="1" type="subTitle"/>
          </p:nvPr>
        </p:nvSpPr>
        <p:spPr>
          <a:xfrm>
            <a:off x="311700" y="1563900"/>
            <a:ext cx="6224400" cy="30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>
                <a:solidFill>
                  <a:schemeClr val="dk1"/>
                </a:solidFill>
              </a:rPr>
              <a:t>Which factors make the US the best performing country (revenue)?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>
                <a:solidFill>
                  <a:schemeClr val="dk1"/>
                </a:solidFill>
              </a:rPr>
              <a:t>Stores annual revenues vs number of orders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>
                <a:solidFill>
                  <a:schemeClr val="dk1"/>
                </a:solidFill>
              </a:rPr>
              <a:t>Education level vs Job Title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a dart is in the center of a red and white target . (Provided by Tenor)" id="511" name="Google Shape;51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1848" y="2571750"/>
            <a:ext cx="2379225" cy="202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2"/>
          <p:cNvSpPr txBox="1"/>
          <p:nvPr>
            <p:ph type="ctrTitle"/>
          </p:nvPr>
        </p:nvSpPr>
        <p:spPr>
          <a:xfrm>
            <a:off x="1853975" y="377775"/>
            <a:ext cx="5666700" cy="109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Thank you!</a:t>
            </a:r>
            <a:endParaRPr b="1" i="1"/>
          </a:p>
        </p:txBody>
      </p:sp>
      <p:sp>
        <p:nvSpPr>
          <p:cNvPr id="517" name="Google Shape;517;p72"/>
          <p:cNvSpPr txBox="1"/>
          <p:nvPr>
            <p:ph idx="1" type="subTitle"/>
          </p:nvPr>
        </p:nvSpPr>
        <p:spPr>
          <a:xfrm>
            <a:off x="3179100" y="2311050"/>
            <a:ext cx="3330300" cy="18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000000"/>
                </a:solidFill>
              </a:rPr>
              <a:t> </a:t>
            </a:r>
            <a:r>
              <a:rPr i="1" lang="en">
                <a:solidFill>
                  <a:srgbClr val="000000"/>
                </a:solidFill>
              </a:rPr>
              <a:t>Q&amp;A is now open</a:t>
            </a:r>
            <a:endParaRPr i="1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</a:rPr>
              <a:t>Please ask away!</a:t>
            </a:r>
            <a:endParaRPr i="1">
              <a:solidFill>
                <a:srgbClr val="000000"/>
              </a:solidFill>
            </a:endParaRPr>
          </a:p>
        </p:txBody>
      </p:sp>
      <p:pic>
        <p:nvPicPr>
          <p:cNvPr descr="a cartoon bear is holding a piece of paper in front of a microphone with the words q &amp; a written on it (Provided by Tenor)" id="518" name="Google Shape;51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8875" y="2082425"/>
            <a:ext cx="2745125" cy="274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&amp;a, message, meaning, questions, answers, assistance, QandA ..." id="519" name="Google Shape;51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450" y="1768600"/>
            <a:ext cx="2818575" cy="1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